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7B2FBE">
              <a:alpha val="12000"/>
            </a:srgbClr>
          </a:solidFill>
          <a:ln w="12700">
            <a:solidFill>
              <a:srgbClr val="7B2FBE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1371600"/>
            <a:ext cx="2011680" cy="2377440"/>
          </a:xfrm>
          <a:prstGeom prst="rect">
            <a:avLst/>
          </a:prstGeom>
          <a:solidFill>
            <a:srgbClr val="1A2E44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691640"/>
            <a:ext cx="1371600" cy="13716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88720" cy="11887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2423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B59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WEBSITE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274320" y="2880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HTML • CSS • JS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React / Vue / PHP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097280"/>
            <a:ext cx="1188720" cy="11887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43600" y="2423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MOBILE APP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5943600" y="2880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React Native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iOS &amp; Android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91440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FA6"/>
                </a:solidFill>
              </a:rPr>
              <a:t>Chuyển Đổi Website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91440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Sang Mobile App</a:t>
            </a:r>
            <a:endParaRPr lang="en-US" sz="3000" dirty="0"/>
          </a:p>
        </p:txBody>
      </p:sp>
      <p:sp>
        <p:nvSpPr>
          <p:cNvPr id="15" name="Shape 10"/>
          <p:cNvSpPr/>
          <p:nvPr/>
        </p:nvSpPr>
        <p:spPr>
          <a:xfrm>
            <a:off x="457200" y="4526280"/>
            <a:ext cx="1280160" cy="347472"/>
          </a:xfrm>
          <a:prstGeom prst="rect">
            <a:avLst/>
          </a:prstGeom>
          <a:solidFill>
            <a:srgbClr val="7B2FBE">
              <a:alpha val="7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57200" y="45262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UI Migration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1874520" y="4526280"/>
            <a:ext cx="1280160" cy="347472"/>
          </a:xfrm>
          <a:prstGeom prst="rect">
            <a:avLst/>
          </a:prstGeom>
          <a:solidFill>
            <a:srgbClr val="7B2FBE">
              <a:alpha val="7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874520" y="45262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Database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3291840" y="4526280"/>
            <a:ext cx="1280160" cy="347472"/>
          </a:xfrm>
          <a:prstGeom prst="rect">
            <a:avLst/>
          </a:prstGeom>
          <a:solidFill>
            <a:srgbClr val="7B2FBE">
              <a:alpha val="7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91840" y="45262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API Layer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709160" y="4526280"/>
            <a:ext cx="1280160" cy="347472"/>
          </a:xfrm>
          <a:prstGeom prst="rect">
            <a:avLst/>
          </a:prstGeom>
          <a:solidFill>
            <a:srgbClr val="00C9A7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709160" y="45262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Auth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126480" y="4526280"/>
            <a:ext cx="1280160" cy="347472"/>
          </a:xfrm>
          <a:prstGeom prst="rect">
            <a:avLst/>
          </a:prstGeom>
          <a:solidFill>
            <a:srgbClr val="00C9A7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126480" y="45262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State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7543800" y="4526280"/>
            <a:ext cx="1280160" cy="347472"/>
          </a:xfrm>
          <a:prstGeom prst="rect">
            <a:avLst/>
          </a:prstGeom>
          <a:solidFill>
            <a:srgbClr val="00C9A7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543800" y="45262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Deploy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Lộ Trình Chuyển Đổi — 5 Giai Đoạn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755648" y="2148840"/>
            <a:ext cx="228600" cy="54864"/>
          </a:xfrm>
          <a:prstGeom prst="rect">
            <a:avLst/>
          </a:prstGeom>
          <a:solidFill>
            <a:srgbClr val="7A8FA6">
              <a:alpha val="60000"/>
            </a:srgbClr>
          </a:solidFill>
          <a:ln w="12700">
            <a:solidFill>
              <a:srgbClr val="7A8FA6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3736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▶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1554480" cy="3931920"/>
          </a:xfrm>
          <a:prstGeom prst="rect">
            <a:avLst/>
          </a:prstGeom>
          <a:solidFill>
            <a:srgbClr val="1A2E44"/>
          </a:solidFill>
          <a:ln w="25400">
            <a:solidFill>
              <a:srgbClr val="7B2FB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005840"/>
            <a:ext cx="1554480" cy="5029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005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64208"/>
            <a:ext cx="475488" cy="4754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56032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Phân Tích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Website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56032" y="2944368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Audit UI, API, DB schema, business logic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520440" y="2148840"/>
            <a:ext cx="228600" cy="54864"/>
          </a:xfrm>
          <a:prstGeom prst="rect">
            <a:avLst/>
          </a:prstGeom>
          <a:solidFill>
            <a:srgbClr val="7A8FA6">
              <a:alpha val="60000"/>
            </a:srgbClr>
          </a:solidFill>
          <a:ln w="12700">
            <a:solidFill>
              <a:srgbClr val="7A8FA6">
                <a:alpha val="6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02152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947672" y="1005840"/>
            <a:ext cx="1554480" cy="3931920"/>
          </a:xfrm>
          <a:prstGeom prst="rect">
            <a:avLst/>
          </a:prstGeom>
          <a:solidFill>
            <a:srgbClr val="1A2E44"/>
          </a:solidFill>
          <a:ln w="25400">
            <a:solidFill>
              <a:srgbClr val="9B59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947672" y="1005840"/>
            <a:ext cx="1554480" cy="502920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947672" y="1005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2" y="1664208"/>
            <a:ext cx="475488" cy="4754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020824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Thiết Kế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Kiến Trúc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2020824" y="2944368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Chọn stack, thiết kế app structure, API contract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5285232" y="2148840"/>
            <a:ext cx="228600" cy="54864"/>
          </a:xfrm>
          <a:prstGeom prst="rect">
            <a:avLst/>
          </a:prstGeom>
          <a:solidFill>
            <a:srgbClr val="7A8FA6">
              <a:alpha val="60000"/>
            </a:srgbClr>
          </a:solidFill>
          <a:ln w="12700">
            <a:solidFill>
              <a:srgbClr val="7A8FA6">
                <a:alpha val="60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266944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712464" y="1005840"/>
            <a:ext cx="1554480" cy="3931920"/>
          </a:xfrm>
          <a:prstGeom prst="rect">
            <a:avLst/>
          </a:prstGeom>
          <a:solidFill>
            <a:srgbClr val="1A2E44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712464" y="1005840"/>
            <a:ext cx="1554480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712464" y="1005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1664208"/>
            <a:ext cx="475488" cy="47548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785616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Chuyển Đổi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Database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3785616" y="2944368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Migration schema, seed data, sync strategy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7050024" y="2148840"/>
            <a:ext cx="228600" cy="54864"/>
          </a:xfrm>
          <a:prstGeom prst="rect">
            <a:avLst/>
          </a:prstGeom>
          <a:solidFill>
            <a:srgbClr val="7A8FA6">
              <a:alpha val="60000"/>
            </a:srgbClr>
          </a:solidFill>
          <a:ln w="12700">
            <a:solidFill>
              <a:srgbClr val="7A8FA6">
                <a:alpha val="6000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031736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▶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5477256" y="1005840"/>
            <a:ext cx="1554480" cy="3931920"/>
          </a:xfrm>
          <a:prstGeom prst="rect">
            <a:avLst/>
          </a:prstGeom>
          <a:solidFill>
            <a:srgbClr val="1A2E44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5477256" y="1005840"/>
            <a:ext cx="1554480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477256" y="1005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896" y="1664208"/>
            <a:ext cx="475488" cy="47548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550408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Xây Dựng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UI &amp; Logic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5550408" y="2944368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Map component web → RN, connect API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7242048" y="1005840"/>
            <a:ext cx="1554480" cy="3931920"/>
          </a:xfrm>
          <a:prstGeom prst="rect">
            <a:avLst/>
          </a:prstGeom>
          <a:solidFill>
            <a:srgbClr val="1A2E44"/>
          </a:solidFill>
          <a:ln w="2540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242048" y="1005840"/>
            <a:ext cx="1554480" cy="502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7242048" y="1005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688" y="1664208"/>
            <a:ext cx="475488" cy="47548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315200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Sync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7315200" y="2944368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Publish store, CI/CD, realtime sync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Giai Đoạn 1 — Phân Tích Website Hiện Tại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46888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51560"/>
            <a:ext cx="4114800" cy="1828800"/>
          </a:xfrm>
          <a:prstGeom prst="rect">
            <a:avLst/>
          </a:prstGeom>
          <a:solidFill>
            <a:srgbClr val="1A2E44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51560"/>
            <a:ext cx="4114800" cy="438912"/>
          </a:xfrm>
          <a:prstGeom prst="rect">
            <a:avLst/>
          </a:prstGeom>
          <a:solidFill>
            <a:srgbClr val="7B2FBE">
              <a:alpha val="85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1051560"/>
            <a:ext cx="3895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🖥️ UI/UX Audit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15544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2FBE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Liệt kê tất cả màn hình/trang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11480" y="18105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2FBE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Xác định navigation flow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11480" y="20665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2FBE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Component nào tái sử dụng được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" y="23225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2FBE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Responsive hay fixed layout?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11480" y="25786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2FBE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Form &amp; validation logic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54880" y="1051560"/>
            <a:ext cx="4114800" cy="1828800"/>
          </a:xfrm>
          <a:prstGeom prst="rect">
            <a:avLst/>
          </a:prstGeom>
          <a:solidFill>
            <a:srgbClr val="1A2E44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1051560"/>
            <a:ext cx="4114800" cy="438912"/>
          </a:xfrm>
          <a:prstGeom prst="rect">
            <a:avLst/>
          </a:prstGeom>
          <a:solidFill>
            <a:srgbClr val="FF6B35">
              <a:alpha val="8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64608" y="1051560"/>
            <a:ext cx="3895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🗄️ Database Audit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92040" y="15544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Schema: bảng, quan hệ, index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892040" y="18105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Dữ liệu quan trọng cần migrate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892040" y="20665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Stored procedures / triggers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892040" y="23225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File uploads (images, docs)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892040" y="25786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Dung lượng data hiện tại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74320" y="3017520"/>
            <a:ext cx="4114800" cy="1828800"/>
          </a:xfrm>
          <a:prstGeom prst="rect">
            <a:avLst/>
          </a:prstGeom>
          <a:solidFill>
            <a:srgbClr val="1A2E44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74320" y="3017520"/>
            <a:ext cx="4114800" cy="438912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4048" y="3017520"/>
            <a:ext cx="3895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🔌 API Audit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11480" y="35204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REST endpoints đang có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11480" y="37764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Authentication method (JWT, Session)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11480" y="40325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CORS config cho mobile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11480" y="42885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Rate limiting / throttling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11480" y="45445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Websocket / realtime nếu có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754880" y="3017520"/>
            <a:ext cx="4114800" cy="1828800"/>
          </a:xfrm>
          <a:prstGeom prst="rect">
            <a:avLst/>
          </a:prstGeom>
          <a:solidFill>
            <a:srgbClr val="1A2E44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754880" y="3017520"/>
            <a:ext cx="4114800" cy="438912"/>
          </a:xfrm>
          <a:prstGeom prst="rect">
            <a:avLst/>
          </a:prstGeom>
          <a:solidFill>
            <a:srgbClr val="FFD166">
              <a:alpha val="8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64608" y="3017520"/>
            <a:ext cx="3895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⚙️ Business Logic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892040" y="35204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Logic tính toán phức tạp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892040" y="37764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Rules validation nghiệp vụ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892040" y="40325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Third-party integrations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892040" y="42885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Payment / notification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892040" y="45445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Permissions &amp; roles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Kiến Trúc: Website vs Mobile App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840480" cy="41148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🌐  Website (Before)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1005840"/>
            <a:ext cx="3840480" cy="411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492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📱  Mobile App (After)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60520" y="20116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</a:rPr>
              <a:t>→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274320" y="1508760"/>
            <a:ext cx="3840480" cy="384048"/>
          </a:xfrm>
          <a:prstGeom prst="rect">
            <a:avLst/>
          </a:prstGeom>
          <a:solidFill>
            <a:srgbClr val="15253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5544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D0E0"/>
                </a:solidFill>
              </a:rPr>
              <a:t>Browser/HTML Render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0" y="1508760"/>
            <a:ext cx="3840480" cy="384048"/>
          </a:xfrm>
          <a:prstGeom prst="rect">
            <a:avLst/>
          </a:prstGeom>
          <a:solidFill>
            <a:srgbClr val="15253A"/>
          </a:solidFill>
          <a:ln w="12700">
            <a:solidFill>
              <a:srgbClr val="1A4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8928" y="15544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</a:rPr>
              <a:t>React Native Components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947672"/>
            <a:ext cx="3840480" cy="384048"/>
          </a:xfrm>
          <a:prstGeom prst="rect">
            <a:avLst/>
          </a:prstGeom>
          <a:solidFill>
            <a:srgbClr val="1A2E44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9933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D0E0"/>
                </a:solidFill>
              </a:rPr>
              <a:t>CSS Stylesheets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0" y="1947672"/>
            <a:ext cx="3840480" cy="384048"/>
          </a:xfrm>
          <a:prstGeom prst="rect">
            <a:avLst/>
          </a:prstGeom>
          <a:solidFill>
            <a:srgbClr val="1A2E44"/>
          </a:solidFill>
          <a:ln w="12700">
            <a:solidFill>
              <a:srgbClr val="1A4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8928" y="19933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</a:rPr>
              <a:t>StyleSheet API + Flexbox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386584"/>
            <a:ext cx="3840480" cy="384048"/>
          </a:xfrm>
          <a:prstGeom prst="rect">
            <a:avLst/>
          </a:prstGeom>
          <a:solidFill>
            <a:srgbClr val="15253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43230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D0E0"/>
                </a:solidFill>
              </a:rPr>
              <a:t>React/Vue/Angular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0" y="2386584"/>
            <a:ext cx="3840480" cy="384048"/>
          </a:xfrm>
          <a:prstGeom prst="rect">
            <a:avLst/>
          </a:prstGeom>
          <a:solidFill>
            <a:srgbClr val="15253A"/>
          </a:solidFill>
          <a:ln w="12700">
            <a:solidFill>
              <a:srgbClr val="1A4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8928" y="243230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</a:rPr>
              <a:t>React Native + Hooks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825496"/>
            <a:ext cx="3840480" cy="384048"/>
          </a:xfrm>
          <a:prstGeom prst="rect">
            <a:avLst/>
          </a:prstGeom>
          <a:solidFill>
            <a:srgbClr val="1A2E44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87121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D0E0"/>
                </a:solidFill>
              </a:rPr>
              <a:t>React Router / Vue Router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0" y="2825496"/>
            <a:ext cx="3840480" cy="384048"/>
          </a:xfrm>
          <a:prstGeom prst="rect">
            <a:avLst/>
          </a:prstGeom>
          <a:solidFill>
            <a:srgbClr val="1A2E44"/>
          </a:solidFill>
          <a:ln w="12700">
            <a:solidFill>
              <a:srgbClr val="1A4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287121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</a:rPr>
              <a:t>React Navigation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264408"/>
            <a:ext cx="3840480" cy="384048"/>
          </a:xfrm>
          <a:prstGeom prst="rect">
            <a:avLst/>
          </a:prstGeom>
          <a:solidFill>
            <a:srgbClr val="15253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31012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D0E0"/>
                </a:solidFill>
              </a:rPr>
              <a:t>localStorage / cookie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0" y="3264408"/>
            <a:ext cx="3840480" cy="384048"/>
          </a:xfrm>
          <a:prstGeom prst="rect">
            <a:avLst/>
          </a:prstGeom>
          <a:solidFill>
            <a:srgbClr val="15253A"/>
          </a:solidFill>
          <a:ln w="12700">
            <a:solidFill>
              <a:srgbClr val="1A4A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38928" y="331012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</a:rPr>
              <a:t>AsyncStorage / SecureStore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703320"/>
            <a:ext cx="3840480" cy="384048"/>
          </a:xfrm>
          <a:prstGeom prst="rect">
            <a:avLst/>
          </a:prstGeom>
          <a:solidFill>
            <a:srgbClr val="1A2E44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74904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D0E0"/>
                </a:solidFill>
              </a:rPr>
              <a:t>fetch / axios (browser)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0" y="3703320"/>
            <a:ext cx="3840480" cy="384048"/>
          </a:xfrm>
          <a:prstGeom prst="rect">
            <a:avLst/>
          </a:prstGeom>
          <a:solidFill>
            <a:srgbClr val="1A2E44"/>
          </a:solidFill>
          <a:ln w="12700">
            <a:solidFill>
              <a:srgbClr val="1A4A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38928" y="374904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</a:rPr>
              <a:t>fetch / axios (RN)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4142232"/>
            <a:ext cx="3840480" cy="384048"/>
          </a:xfrm>
          <a:prstGeom prst="rect">
            <a:avLst/>
          </a:prstGeom>
          <a:solidFill>
            <a:srgbClr val="15253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418795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D0E0"/>
                </a:solidFill>
              </a:rPr>
              <a:t>REST API (same origin)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29200" y="4142232"/>
            <a:ext cx="3840480" cy="384048"/>
          </a:xfrm>
          <a:prstGeom prst="rect">
            <a:avLst/>
          </a:prstGeom>
          <a:solidFill>
            <a:srgbClr val="15253A"/>
          </a:solidFill>
          <a:ln w="12700">
            <a:solidFill>
              <a:srgbClr val="1A4A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38928" y="418795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</a:rPr>
              <a:t>REST API (CORS enabled)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4581144"/>
            <a:ext cx="3840480" cy="384048"/>
          </a:xfrm>
          <a:prstGeom prst="rect">
            <a:avLst/>
          </a:prstGeom>
          <a:solidFill>
            <a:srgbClr val="1A2E44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462686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D0E0"/>
                </a:solidFill>
              </a:rPr>
              <a:t>SQL/NoSQL trực tiếp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0" y="4581144"/>
            <a:ext cx="3840480" cy="384048"/>
          </a:xfrm>
          <a:prstGeom prst="rect">
            <a:avLst/>
          </a:prstGeom>
          <a:solidFill>
            <a:srgbClr val="1A2E44"/>
          </a:solidFill>
          <a:ln w="12700">
            <a:solidFill>
              <a:srgbClr val="1A4A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38928" y="462686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</a:rPr>
              <a:t>API → Database (không trực tiếp)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Giai Đoạn 3 — Chiến Lược Database Migration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46888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05840"/>
            <a:ext cx="4023360" cy="41148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Chiến lược A — Giữ nguyên Server DB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1463040"/>
            <a:ext cx="4023360" cy="3474720"/>
          </a:xfrm>
          <a:prstGeom prst="rect">
            <a:avLst/>
          </a:prstGeom>
          <a:solidFill>
            <a:srgbClr val="1A2E44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5544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📱 Mobile App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↕ HTTPS / REST API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🖥️ Backend Server (Node/Laravel/Django)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↕ SQL / ORM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🗄️ PostgreSQL / MySQL / MongoDB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(Không thay đổi gì!)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11480" y="3017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Ưu điểm: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1480" y="3310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Backend không cần viết lại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" y="36027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Data nhất quán giữa web &amp; app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11480" y="38953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Dễ maintain, 1 source of truth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11480" y="4187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Thêm mobile endpoint vào API có sẵn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846320" y="1005840"/>
            <a:ext cx="4023360" cy="411480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3776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 Chiến lược B — Local DB + Cloud Sync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46320" y="1463040"/>
            <a:ext cx="4023360" cy="3474720"/>
          </a:xfrm>
          <a:prstGeom prst="rect">
            <a:avLst/>
          </a:prstGeom>
          <a:solidFill>
            <a:srgbClr val="1A2E44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0" y="15544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📱 Mobile App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↕ SQLite / WatermelonDB (local)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↕ Sync engine (background)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☁️ Firebase / Supabase / Custom API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↕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🗄️ Cloud Database (PostgreSQL...)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983480" y="3017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Ưu điểm: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983480" y="3310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Hoạt động offline hoàn toàn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983480" y="36027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Nhanh hơn do đọc local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983480" y="38953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Tự động sync khi có mạng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983480" y="4187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Tốt cho app field/remote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Công Cụ &amp; Quy Trình Migration Database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Quy Trình 6 Bước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023360" cy="530352"/>
          </a:xfrm>
          <a:prstGeom prst="rect">
            <a:avLst/>
          </a:prstGeom>
          <a:solidFill>
            <a:srgbClr val="1A2E44"/>
          </a:solidFill>
          <a:ln w="19050">
            <a:solidFill>
              <a:srgbClr val="EF45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99616"/>
            <a:ext cx="347472" cy="347472"/>
          </a:xfrm>
          <a:prstGeom prst="ellipse">
            <a:avLst/>
          </a:prstGeom>
          <a:solidFill>
            <a:srgbClr val="EF4565"/>
          </a:solidFill>
          <a:ln w="12700">
            <a:solidFill>
              <a:srgbClr val="EF45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99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4538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565"/>
                </a:solidFill>
              </a:rPr>
              <a:t>Backup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68249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Sao lưu toàn bộ DB hiện tại trước khi làm bất cứ điều gì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4023360" cy="530352"/>
          </a:xfrm>
          <a:prstGeom prst="rect">
            <a:avLst/>
          </a:prstGeom>
          <a:solidFill>
            <a:srgbClr val="1A2E44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093976"/>
            <a:ext cx="347472" cy="34747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093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04825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Export Schema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2768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Xuất cấu trúc bảng: pg_dump -s / mysqldump --no-data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606040"/>
            <a:ext cx="4023360" cy="530352"/>
          </a:xfrm>
          <a:prstGeom prst="rect">
            <a:avLst/>
          </a:prstGeom>
          <a:solidFill>
            <a:srgbClr val="1A2E44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688336"/>
            <a:ext cx="347472" cy="34747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688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264261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Map Schema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87121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Ánh xạ schema web → API response cần thiết cho app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200400"/>
            <a:ext cx="4023360" cy="530352"/>
          </a:xfrm>
          <a:prstGeom prst="rect">
            <a:avLst/>
          </a:prstGeom>
          <a:solidFill>
            <a:srgbClr val="1A2E44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282696"/>
            <a:ext cx="347472" cy="3474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282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323697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Migrate Data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346557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Script chuyển đổi, chuẩn hóa dữ liệu, handle null/default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3794760"/>
            <a:ext cx="4023360" cy="530352"/>
          </a:xfrm>
          <a:prstGeom prst="rect">
            <a:avLst/>
          </a:prstGeom>
          <a:solidFill>
            <a:srgbClr val="1A2E44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877056"/>
            <a:ext cx="347472" cy="3474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877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383133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Test API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" y="405993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Test toàn bộ endpoint với data đã migrate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4389120"/>
            <a:ext cx="4023360" cy="530352"/>
          </a:xfrm>
          <a:prstGeom prst="rect">
            <a:avLst/>
          </a:prstGeom>
          <a:solidFill>
            <a:srgbClr val="1A2E44"/>
          </a:solidFill>
          <a:ln w="19050">
            <a:solidFill>
              <a:srgbClr val="7B2F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4471416"/>
            <a:ext cx="347472" cy="34747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471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" y="44256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BE"/>
                </a:solidFill>
              </a:rPr>
              <a:t>Cutover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7240" y="465429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Switch DNS/endpoint, chạy song song web+app một thời gian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63440" y="1005840"/>
            <a:ext cx="4206240" cy="34747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🛠️  Công Cụ Phổ Biến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63440" y="1417320"/>
            <a:ext cx="4206240" cy="530352"/>
          </a:xfrm>
          <a:prstGeom prst="rect">
            <a:avLst/>
          </a:prstGeom>
          <a:solidFill>
            <a:srgbClr val="15253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1417320"/>
            <a:ext cx="54864" cy="5303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1453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9A7"/>
                </a:solidFill>
              </a:rPr>
              <a:t>Prisma ORM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00600" y="16916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FA6"/>
                </a:solidFill>
              </a:rPr>
              <a:t>Schema migration + type-safe queries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680960" y="1527048"/>
            <a:ext cx="1097280" cy="274320"/>
          </a:xfrm>
          <a:prstGeom prst="rect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0" y="1527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Node.js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663440" y="2020824"/>
            <a:ext cx="4206240" cy="530352"/>
          </a:xfrm>
          <a:prstGeom prst="rect">
            <a:avLst/>
          </a:prstGeom>
          <a:solidFill>
            <a:srgbClr val="15253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2020824"/>
            <a:ext cx="54864" cy="530352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2057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59F5"/>
                </a:solidFill>
              </a:rPr>
              <a:t>Knex.js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00600" y="22951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FA6"/>
                </a:solidFill>
              </a:rPr>
              <a:t>SQL query builder, migration files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680960" y="2130552"/>
            <a:ext cx="1097280" cy="274320"/>
          </a:xfrm>
          <a:prstGeom prst="rect">
            <a:avLst/>
          </a:prstGeom>
          <a:solidFill>
            <a:srgbClr val="9B59F5">
              <a:alpha val="25000"/>
            </a:srgbClr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80960" y="21305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Node.js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663440" y="2624328"/>
            <a:ext cx="4206240" cy="530352"/>
          </a:xfrm>
          <a:prstGeom prst="rect">
            <a:avLst/>
          </a:prstGeom>
          <a:solidFill>
            <a:srgbClr val="15253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63440" y="2624328"/>
            <a:ext cx="54864" cy="5303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26609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</a:rPr>
              <a:t>Sequelize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800600" y="2898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FA6"/>
                </a:solidFill>
              </a:rPr>
              <a:t>ORM với migration tự động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680960" y="2734056"/>
            <a:ext cx="1097280" cy="274320"/>
          </a:xfrm>
          <a:prstGeom prst="rect">
            <a:avLst/>
          </a:prstGeom>
          <a:solidFill>
            <a:srgbClr val="FF6B35">
              <a:alpha val="2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80960" y="27340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Node.js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663440" y="3227832"/>
            <a:ext cx="4206240" cy="530352"/>
          </a:xfrm>
          <a:prstGeom prst="rect">
            <a:avLst/>
          </a:prstGeom>
          <a:solidFill>
            <a:srgbClr val="15253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63440" y="3227832"/>
            <a:ext cx="54864" cy="5303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32644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</a:rPr>
              <a:t>Alembic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4800600" y="35021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FA6"/>
                </a:solidFill>
              </a:rPr>
              <a:t>Migration tool cho SQLAlchemy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680960" y="3337560"/>
            <a:ext cx="1097280" cy="274320"/>
          </a:xfrm>
          <a:prstGeom prst="rect">
            <a:avLst/>
          </a:prstGeom>
          <a:solidFill>
            <a:srgbClr val="FFD166">
              <a:alpha val="2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8096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Python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663440" y="3831336"/>
            <a:ext cx="4206240" cy="530352"/>
          </a:xfrm>
          <a:prstGeom prst="rect">
            <a:avLst/>
          </a:prstGeom>
          <a:solidFill>
            <a:srgbClr val="15253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663440" y="3831336"/>
            <a:ext cx="54864" cy="530352"/>
          </a:xfrm>
          <a:prstGeom prst="rect">
            <a:avLst/>
          </a:prstGeom>
          <a:solidFill>
            <a:srgbClr val="EF4565"/>
          </a:solidFill>
          <a:ln w="12700">
            <a:solidFill>
              <a:srgbClr val="EF456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00600" y="3867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565"/>
                </a:solidFill>
              </a:rPr>
              <a:t>Laravel Migrate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4800600" y="41056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FA6"/>
                </a:solidFill>
              </a:rPr>
              <a:t>php artisan migrate --seed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7680960" y="3941064"/>
            <a:ext cx="1097280" cy="274320"/>
          </a:xfrm>
          <a:prstGeom prst="rect">
            <a:avLst/>
          </a:prstGeom>
          <a:solidFill>
            <a:srgbClr val="EF4565">
              <a:alpha val="25000"/>
            </a:srgbClr>
          </a:solidFill>
          <a:ln w="12700">
            <a:solidFill>
              <a:srgbClr val="EF456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680960" y="39410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PHP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663440" y="4434840"/>
            <a:ext cx="4206240" cy="530352"/>
          </a:xfrm>
          <a:prstGeom prst="rect">
            <a:avLst/>
          </a:prstGeom>
          <a:solidFill>
            <a:srgbClr val="15253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63440" y="4434840"/>
            <a:ext cx="54864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00600" y="44714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D6A0"/>
                </a:solidFill>
              </a:rPr>
              <a:t>Supabase CLI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4800600" y="47091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FA6"/>
                </a:solidFill>
              </a:rPr>
              <a:t>Tự tạo REST API từ PostgreSQL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680960" y="4544568"/>
            <a:ext cx="1097280" cy="274320"/>
          </a:xfrm>
          <a:prstGeom prst="rect">
            <a:avLst/>
          </a:prstGeom>
          <a:solidFill>
            <a:srgbClr val="06D6A0">
              <a:alpha val="2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680960" y="4544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Any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Layer — Cầu Nối Web &amp; Mobile App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46888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05840"/>
            <a:ext cx="8595360" cy="1371600"/>
          </a:xfrm>
          <a:prstGeom prst="rect">
            <a:avLst/>
          </a:prstGeom>
          <a:solidFill>
            <a:srgbClr val="1A2E44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1097280"/>
            <a:ext cx="1920240" cy="1143000"/>
          </a:xfrm>
          <a:prstGeom prst="rect">
            <a:avLst/>
          </a:prstGeom>
          <a:solidFill>
            <a:srgbClr val="7B2FBE">
              <a:alpha val="15000"/>
            </a:srgbClr>
          </a:solidFill>
          <a:ln w="19050">
            <a:solidFill>
              <a:srgbClr val="7B2FB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1704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FBE"/>
                </a:solidFill>
              </a:rPr>
              <a:t>Web Browser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15544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React/Vue/HTML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828800" y="1325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8FA6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240280" y="1097280"/>
            <a:ext cx="1920240" cy="1143000"/>
          </a:xfrm>
          <a:prstGeom prst="rect">
            <a:avLst/>
          </a:prstGeom>
          <a:solidFill>
            <a:srgbClr val="FF6B35">
              <a:alpha val="15000"/>
            </a:srgbClr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40280" y="11704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REST API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240280" y="15544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Express/Laravel/FastAPI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977640" y="1325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8FA6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4251960" y="1097280"/>
            <a:ext cx="1920240" cy="1143000"/>
          </a:xfrm>
          <a:prstGeom prst="rect">
            <a:avLst/>
          </a:prstGeom>
          <a:solidFill>
            <a:srgbClr val="FFD166">
              <a:alpha val="15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51960" y="11704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Database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251960" y="15544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MySQL/Postgres/Mongo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989320" y="1325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8FA6"/>
                </a:solidFill>
              </a:rPr>
              <a:t>←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6217920" y="1097280"/>
            <a:ext cx="1920240" cy="1143000"/>
          </a:xfrm>
          <a:prstGeom prst="rect">
            <a:avLst/>
          </a:prstGeom>
          <a:solidFill>
            <a:srgbClr val="00C9A7">
              <a:alpha val="15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0" y="11704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Same API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217920" y="15544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+ mobile endpoints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973568" y="1325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8FA6"/>
                </a:solidFill>
              </a:rPr>
              <a:t>←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8138160" y="1097280"/>
            <a:ext cx="1920240" cy="1143000"/>
          </a:xfrm>
          <a:prstGeom prst="rect">
            <a:avLst/>
          </a:prstGeom>
          <a:solidFill>
            <a:srgbClr val="06D6A0">
              <a:alpha val="15000"/>
            </a:srgbClr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38160" y="11704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</a:rPr>
              <a:t>Mobile App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138160" y="15544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React Native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74320" y="25146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Những Thay Đổi API Cần Thiết Cho Mobile: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274320" y="2907792"/>
            <a:ext cx="8595360" cy="374904"/>
          </a:xfrm>
          <a:prstGeom prst="rect">
            <a:avLst/>
          </a:prstGeom>
          <a:solidFill>
            <a:srgbClr val="1525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74320" y="2907792"/>
            <a:ext cx="45720" cy="37490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" y="2962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9A7"/>
                </a:solidFill>
              </a:rPr>
              <a:t>CORS Headers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874520" y="296265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app.use(cors({ origin: '*' }));  // cho phép mobile call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74320" y="3337560"/>
            <a:ext cx="8595360" cy="374904"/>
          </a:xfrm>
          <a:prstGeom prst="rect">
            <a:avLst/>
          </a:prstGeom>
          <a:solidFill>
            <a:srgbClr val="1525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74320" y="3337560"/>
            <a:ext cx="45720" cy="37490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11480" y="33924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35"/>
                </a:solidFill>
              </a:rPr>
              <a:t>Pagination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874520" y="339242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/api/users?page=1&amp;limit=20   // mobile cần phân trang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74320" y="3767328"/>
            <a:ext cx="8595360" cy="374904"/>
          </a:xfrm>
          <a:prstGeom prst="rect">
            <a:avLst/>
          </a:prstGeom>
          <a:solidFill>
            <a:srgbClr val="1525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74320" y="3767328"/>
            <a:ext cx="45720" cy="374904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11480" y="38221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59F5"/>
                </a:solidFill>
              </a:rPr>
              <a:t>Image URL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1874520" y="38221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avatar: "https://cdn.example.com/img.jpg" }  // full URL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74320" y="4197096"/>
            <a:ext cx="8595360" cy="374904"/>
          </a:xfrm>
          <a:prstGeom prst="rect">
            <a:avLst/>
          </a:prstGeom>
          <a:solidFill>
            <a:srgbClr val="1525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74320" y="4197096"/>
            <a:ext cx="45720" cy="37490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11480" y="4251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</a:rPr>
              <a:t>Error Format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1874520" y="42519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success: false, code: "ERR_001", message: "..." }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74320" y="4626864"/>
            <a:ext cx="8595360" cy="374904"/>
          </a:xfrm>
          <a:prstGeom prst="rect">
            <a:avLst/>
          </a:prstGeom>
          <a:solidFill>
            <a:srgbClr val="1525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74320" y="4626864"/>
            <a:ext cx="45720" cy="374904"/>
          </a:xfrm>
          <a:prstGeom prst="rect">
            <a:avLst/>
          </a:prstGeom>
          <a:solidFill>
            <a:srgbClr val="EF4565"/>
          </a:solidFill>
          <a:ln w="12700">
            <a:solidFill>
              <a:srgbClr val="EF456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11480" y="4681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565"/>
                </a:solidFill>
              </a:rPr>
              <a:t>Auth Header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1874520" y="468172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Bearer &lt;jwt_token&gt;  // thay cookie/session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Chuyển Đổi UI: Web HTML/CSS → React Native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840480" cy="347472"/>
          </a:xfrm>
          <a:prstGeom prst="rect">
            <a:avLst/>
          </a:prstGeom>
          <a:solidFill>
            <a:srgbClr val="7B2FBE">
              <a:alpha val="7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🌐  Web (HTML/CSS)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0" y="1005840"/>
            <a:ext cx="3840480" cy="347472"/>
          </a:xfrm>
          <a:prstGeom prst="rect">
            <a:avLst/>
          </a:prstGeom>
          <a:solidFill>
            <a:srgbClr val="00C9A7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📱  React Native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384048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7B2FBE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472184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className="container"&gt;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&lt;h1&gt;Tiêu đề&lt;/h1&gt;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&lt;p&gt;Nội dung text&lt;/p&gt;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97680" y="16916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0" y="1417320"/>
            <a:ext cx="384048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8928" y="1472184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&lt;View style={styles.container}&gt;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&lt;Text style={styles.h1}&gt;Tiêu đề&lt;/Text&gt;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&lt;Text&gt;Nội dung text&lt;/Text&gt;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&lt;/View&gt;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384048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7B2FBE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386584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onClick={handlePress}&gt;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Bấm vào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97680" y="2606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29200" y="2331720"/>
            <a:ext cx="384048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38928" y="2386584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&lt;TouchableOpacity onPress={handlePress}&gt;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&lt;Text&gt;Bấm vào&lt;/Text&gt;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&lt;/TouchableOpacity&gt;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3246120"/>
            <a:ext cx="384048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7B2FBE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300984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type="text"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value={val}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onChange={e =&gt; setVal(e.target.value)} /&gt;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97680" y="3520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29200" y="3246120"/>
            <a:ext cx="384048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3300984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&lt;TextInput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value={val}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onChangeText={text =&gt; setVal(text)} /&gt;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4160520"/>
            <a:ext cx="384048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7B2FBE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215384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{items.map(i =&gt; &lt;li key={i.id}&gt;{i.name}&lt;/li&gt;)}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&lt;/ul&gt;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297680" y="44348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029200" y="4160520"/>
            <a:ext cx="384048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38928" y="4215384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&lt;FlatList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data={items}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keyExtractor={i =&gt; i.id}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renderItem={({item}) =&gt; &lt;Text&gt;{item.name}&lt;/Text&gt;} /&gt;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F4565">
              <a:alpha val="90000"/>
            </a:srgbClr>
          </a:solidFill>
          <a:ln w="12700">
            <a:solidFill>
              <a:srgbClr val="EF45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Authentication — Chuyển Từ Cookie/Session → JWT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46888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05840"/>
            <a:ext cx="3840480" cy="384048"/>
          </a:xfrm>
          <a:prstGeom prst="rect">
            <a:avLst/>
          </a:prstGeom>
          <a:solidFill>
            <a:srgbClr val="7B2FBE">
              <a:alpha val="75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005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🌐  Web: Cookie / Session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444752"/>
            <a:ext cx="3840480" cy="3474720"/>
          </a:xfrm>
          <a:prstGeom prst="rect">
            <a:avLst/>
          </a:prstGeom>
          <a:solidFill>
            <a:srgbClr val="1A2E44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536192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User login → Server tạo session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Lưu session ID trong cookie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Mỗi request tự động gửi cookie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Server check session trên DB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Logout → xóa session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Vấn đề với mobile: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Cookie không hoạt động tốt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CORS phức tạp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Không stateless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97680" y="2286000"/>
            <a:ext cx="548640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97680" y="22860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5029200" y="1005840"/>
            <a:ext cx="3840480" cy="384048"/>
          </a:xfrm>
          <a:prstGeom prst="rect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0" y="1005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📱  Mobile: JWT Token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0" y="1444752"/>
            <a:ext cx="3840480" cy="34747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4A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66360" y="1536192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User login → Server tạo JWT token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App lưu token vào SecureStore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Mỗi request gửi header: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Authorization: Bearer &lt;token&gt;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Server verify token (stateless)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Logout → xóa token local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Code example: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* as SecureStore from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'expo-secure-store';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SecureStore.setItemAsync(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'token', jwtToken);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Offline Support &amp; Data Synchronization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4688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10241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Các Lựa Chọn Lưu Trữ Local: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417320"/>
            <a:ext cx="8595360" cy="640080"/>
          </a:xfrm>
          <a:prstGeom prst="rect">
            <a:avLst/>
          </a:prstGeom>
          <a:solidFill>
            <a:srgbClr val="1A2E44"/>
          </a:solidFill>
          <a:ln w="12700">
            <a:solidFill>
              <a:srgbClr val="00C9A7">
                <a:alpha val="5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417320"/>
            <a:ext cx="64008" cy="6400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8912" y="14538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AsyncStorage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" y="17465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FA6"/>
                </a:solidFill>
              </a:rPr>
              <a:t>Key-value đơn giản, nhỏ. Như localStorage nhưng async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880360" y="1490472"/>
            <a:ext cx="5852160" cy="493776"/>
          </a:xfrm>
          <a:prstGeom prst="rect">
            <a:avLst/>
          </a:prstGeom>
          <a:solidFill>
            <a:srgbClr val="0A1628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71800" y="154533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AsyncStorage.setItem('key', JSON.stringify(obj))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74320" y="2121408"/>
            <a:ext cx="8595360" cy="640080"/>
          </a:xfrm>
          <a:prstGeom prst="rect">
            <a:avLst/>
          </a:prstGeom>
          <a:solidFill>
            <a:srgbClr val="1A2E44"/>
          </a:solidFill>
          <a:ln w="12700">
            <a:solidFill>
              <a:srgbClr val="06D6A0">
                <a:alpha val="5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" y="2121408"/>
            <a:ext cx="64008" cy="6400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8912" y="2157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</a:rPr>
              <a:t>SecureStore (Expo)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38912" y="2450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FA6"/>
                </a:solidFill>
              </a:rPr>
              <a:t>Lưu token/password an toàn, mã hóa tự động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880360" y="2194560"/>
            <a:ext cx="5852160" cy="493776"/>
          </a:xfrm>
          <a:prstGeom prst="rect">
            <a:avLst/>
          </a:prstGeom>
          <a:solidFill>
            <a:srgbClr val="0A1628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71800" y="224942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SecureStore.setItemAsync('token', jwtToken)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74320" y="2825496"/>
            <a:ext cx="8595360" cy="640080"/>
          </a:xfrm>
          <a:prstGeom prst="rect">
            <a:avLst/>
          </a:prstGeom>
          <a:solidFill>
            <a:srgbClr val="1A2E44"/>
          </a:solidFill>
          <a:ln w="12700">
            <a:solidFill>
              <a:srgbClr val="FF6B35">
                <a:alpha val="5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4320" y="2825496"/>
            <a:ext cx="64008" cy="6400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8912" y="2862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SQLite (expo-sqlite)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38912" y="3154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FA6"/>
                </a:solidFill>
              </a:rPr>
              <a:t>Database SQL đầy đủ local, queries phức tạp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880360" y="2898648"/>
            <a:ext cx="5852160" cy="493776"/>
          </a:xfrm>
          <a:prstGeom prst="rect">
            <a:avLst/>
          </a:prstGeom>
          <a:solidFill>
            <a:srgbClr val="0A1628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971800" y="295351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db.transaction(tx =&gt; { tx.executeSql('SELECT * FROM users') })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74320" y="3529584"/>
            <a:ext cx="8595360" cy="640080"/>
          </a:xfrm>
          <a:prstGeom prst="rect">
            <a:avLst/>
          </a:prstGeom>
          <a:solidFill>
            <a:srgbClr val="1A2E44"/>
          </a:solidFill>
          <a:ln w="12700">
            <a:solidFill>
              <a:srgbClr val="9B59F5">
                <a:alpha val="5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74320" y="3529584"/>
            <a:ext cx="64008" cy="640080"/>
          </a:xfrm>
          <a:prstGeom prst="rect">
            <a:avLst/>
          </a:prstGeom>
          <a:solidFill>
            <a:srgbClr val="9B59F5"/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38912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59F5"/>
                </a:solidFill>
              </a:rPr>
              <a:t>WatermelonDB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38912" y="3858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FA6"/>
                </a:solidFill>
              </a:rPr>
              <a:t>High-performance local DB, tự sync với server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2880360" y="3602736"/>
            <a:ext cx="5852160" cy="493776"/>
          </a:xfrm>
          <a:prstGeom prst="rect">
            <a:avLst/>
          </a:prstGeom>
          <a:solidFill>
            <a:srgbClr val="0A1628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971800" y="365760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posts = await database.collections.get('posts').query().fetch()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274320" y="4233672"/>
            <a:ext cx="8595360" cy="640080"/>
          </a:xfrm>
          <a:prstGeom prst="rect">
            <a:avLst/>
          </a:prstGeom>
          <a:solidFill>
            <a:srgbClr val="1A2E44"/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74320" y="4233672"/>
            <a:ext cx="64008" cy="6400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38912" y="4270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MMKV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38912" y="45628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FA6"/>
                </a:solidFill>
              </a:rPr>
              <a:t>Cực nhanh, thay thế AsyncStorage cho data nhỏ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2880360" y="4306824"/>
            <a:ext cx="5852160" cy="493776"/>
          </a:xfrm>
          <a:prstGeom prst="rect">
            <a:avLst/>
          </a:prstGeom>
          <a:solidFill>
            <a:srgbClr val="0A1628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971800" y="436168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storage.set('user', JSON.stringify(userData))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Sync Dữ Liệu Thời Gian Thực — Firebase &amp; WebSocket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384048"/>
          </a:xfrm>
          <a:prstGeom prst="rect">
            <a:avLst/>
          </a:prstGeom>
          <a:solidFill>
            <a:srgbClr val="FF6B35">
              <a:alpha val="7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🔥  Firebase Firestore (Realtime)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4023360" cy="3474720"/>
          </a:xfrm>
          <a:prstGeom prst="rect">
            <a:avLst/>
          </a:prstGeom>
          <a:solidFill>
            <a:srgbClr val="0A1628"/>
          </a:solidFill>
          <a:ln w="12700">
            <a:solidFill>
              <a:srgbClr val="2A3A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36192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firestore from '@react-native-firebase/firestore';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Lắng nghe thay đổi realtime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useEffect(()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unsubscribe = firestore()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.collection('orders')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.where('userId', '==', userId)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.onSnapshot(snapshot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orders = snapshot.docs.map(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doc =&gt; ({id: doc.id, ...doc.data()})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setOrders(orders);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() =&gt; unsubscribe(); // cleanup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[userId]);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023360" cy="384048"/>
          </a:xfrm>
          <a:prstGeom prst="rect">
            <a:avLst/>
          </a:prstGeom>
          <a:solidFill>
            <a:srgbClr val="00C9A7">
              <a:alpha val="7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05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 Supabase Realtime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444752"/>
            <a:ext cx="4023360" cy="347472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536192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supabase } from './supabase';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Subscribe thay đổi bảng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useEffect(()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channel = supabase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.channel('orders-changes')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.on('postgres_changes',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event: '*',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schema: 'public',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table: 'orders'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 (payload) =&gt;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console.log('Changed:', payload);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fetchOrders(); // reload data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.subscribe();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() =&gt; supabase.removeChannel(channel);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[]);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Push Notifications — Tính Năng Đặc Trưng Mobile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46888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05840"/>
            <a:ext cx="8595360" cy="1188720"/>
          </a:xfrm>
          <a:prstGeom prst="rect">
            <a:avLst/>
          </a:prstGeom>
          <a:solidFill>
            <a:srgbClr val="1A2E44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Luồng Push Notification: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920240" y="15361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FA6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" y="1389888"/>
            <a:ext cx="1463040" cy="685800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1408176"/>
            <a:ext cx="14630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App lấy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Expo Push Token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20440" y="15361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FA6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011680" y="1389888"/>
            <a:ext cx="1463040" cy="685800"/>
          </a:xfrm>
          <a:prstGeom prst="rect">
            <a:avLst/>
          </a:prstGeom>
          <a:solidFill>
            <a:srgbClr val="9B59F5">
              <a:alpha val="20000"/>
            </a:srgbClr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11680" y="1408176"/>
            <a:ext cx="14630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Gửi token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lên Server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120640" y="15361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FA6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611880" y="1389888"/>
            <a:ext cx="1463040" cy="685800"/>
          </a:xfrm>
          <a:prstGeom prst="rect">
            <a:avLst/>
          </a:prstGeom>
          <a:solidFill>
            <a:srgbClr val="FF6B35">
              <a:alpha val="2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11880" y="1408176"/>
            <a:ext cx="14630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Server lưu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token vào DB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720840" y="15361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FA6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212080" y="1389888"/>
            <a:ext cx="1463040" cy="685800"/>
          </a:xfrm>
          <a:prstGeom prst="rect">
            <a:avLst/>
          </a:prstGeom>
          <a:solidFill>
            <a:srgbClr val="FFD166">
              <a:alpha val="2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12080" y="1408176"/>
            <a:ext cx="14630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Server gọi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Expo Push API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321040" y="15361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FA6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812280" y="1389888"/>
            <a:ext cx="1463040" cy="685800"/>
          </a:xfrm>
          <a:prstGeom prst="rect">
            <a:avLst/>
          </a:prstGeom>
          <a:solidFill>
            <a:srgbClr val="EF4565">
              <a:alpha val="20000"/>
            </a:srgbClr>
          </a:solidFill>
          <a:ln w="12700">
            <a:solidFill>
              <a:srgbClr val="EF456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12280" y="1408176"/>
            <a:ext cx="14630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Expo gửi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qua APNs/FCM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229600" y="1389888"/>
            <a:ext cx="1463040" cy="685800"/>
          </a:xfrm>
          <a:prstGeom prst="rect">
            <a:avLst/>
          </a:prstGeom>
          <a:solidFill>
            <a:srgbClr val="06D6A0">
              <a:alpha val="2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0" y="1408176"/>
            <a:ext cx="14630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User nhận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thông báo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74320" y="2286000"/>
            <a:ext cx="4023360" cy="347472"/>
          </a:xfrm>
          <a:prstGeom prst="rect">
            <a:avLst/>
          </a:prstGeom>
          <a:solidFill>
            <a:srgbClr val="00C9A7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2286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📱  App: Đăng Ký Nhận Thông Báo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74320" y="2679192"/>
            <a:ext cx="4023360" cy="224028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2761488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* as Notifications from 'expo-notifications';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registerForPushNotifications()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status } = await Notifications.requestPermissionsAsync();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(status !== 'granted') return;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token = await Notifications.getExpoPushTokenAsync();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Gửi token lên server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api.post('/users/push-token',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token: token.data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Lắng nghe thông báo khi app đang mở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Notifications.addNotificationReceivedListener(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notification =&gt;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console.log(notification);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846320" y="2286000"/>
            <a:ext cx="4023360" cy="347472"/>
          </a:xfrm>
          <a:prstGeom prst="rect">
            <a:avLst/>
          </a:prstGeom>
          <a:solidFill>
            <a:srgbClr val="FF6B35">
              <a:alpha val="7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37760" y="2286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🖥️  Server: Gửi Thông Báo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846320" y="2679192"/>
            <a:ext cx="4023360" cy="2240280"/>
          </a:xfrm>
          <a:prstGeom prst="rect">
            <a:avLst/>
          </a:prstGeom>
          <a:solidFill>
            <a:srgbClr val="0A1628"/>
          </a:solidFill>
          <a:ln w="12700">
            <a:solidFill>
              <a:srgbClr val="2A3A2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983480" y="2761488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Node.js — gửi push notification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Expo } = require('expo-server-sdk');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expo = new Expo();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sendPushNotification(pushToken, title, body)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(!Expo.isExpoPushToken(pushToken)) return;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message =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to: pushToken,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sound: 'default',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title,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body: body,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data: { orderId: '123' 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chunks = expo.chunkPushNotifications([message]);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(const chunk of chunks)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expo.sendPushNotificationsAsync(chunk);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Case Study — Migrate Todo Web App → Mobile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102412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</a:rPr>
              <a:t>Checklist Migration Hoàn Chỉnh: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44752"/>
            <a:ext cx="2788920" cy="347472"/>
          </a:xfrm>
          <a:prstGeom prst="rect">
            <a:avLst/>
          </a:prstGeom>
          <a:solidFill>
            <a:srgbClr val="1A2E44"/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447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Backend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2788920" cy="566928"/>
          </a:xfrm>
          <a:prstGeom prst="rect">
            <a:avLst/>
          </a:prstGeom>
          <a:solidFill>
            <a:srgbClr val="1A2E44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93852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0195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Thêm CORS header cho mobile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2450592"/>
            <a:ext cx="2788920" cy="566928"/>
          </a:xfrm>
          <a:prstGeom prst="rect">
            <a:avLst/>
          </a:prstGeom>
          <a:solidFill>
            <a:srgbClr val="1A2E44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56032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52374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Đổi auth sang JWT, thêm refresh token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3072384"/>
            <a:ext cx="2788920" cy="566928"/>
          </a:xfrm>
          <a:prstGeom prst="rect">
            <a:avLst/>
          </a:prstGeom>
          <a:solidFill>
            <a:srgbClr val="1A2E44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318211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14553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Thêm endpoint /api/todos/sync?since=timestamp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3694176"/>
            <a:ext cx="2788920" cy="566928"/>
          </a:xfrm>
          <a:prstGeom prst="rect">
            <a:avLst/>
          </a:prstGeom>
          <a:solidFill>
            <a:srgbClr val="1A2E44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80390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76732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Trả full URL cho tất cả ảnh/file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4315968"/>
            <a:ext cx="2788920" cy="566928"/>
          </a:xfrm>
          <a:prstGeom prst="rect">
            <a:avLst/>
          </a:prstGeom>
          <a:solidFill>
            <a:srgbClr val="1A2E44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442569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FA6"/>
                </a:solidFill>
              </a:rPr>
              <a:t>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38912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Thêm endpoint push notification token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46120" y="1444752"/>
            <a:ext cx="2788920" cy="347472"/>
          </a:xfrm>
          <a:prstGeom prst="rect">
            <a:avLst/>
          </a:prstGeom>
          <a:solidFill>
            <a:srgbClr val="1A2E44"/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4447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Database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1828800"/>
            <a:ext cx="2788920" cy="566928"/>
          </a:xfrm>
          <a:prstGeom prst="rect">
            <a:avLst/>
          </a:prstGeom>
          <a:solidFill>
            <a:srgbClr val="1A2E44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9272" y="193852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✅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11880" y="190195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Backup PostgreSQL trước khi thay đổi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46120" y="2450592"/>
            <a:ext cx="2788920" cy="566928"/>
          </a:xfrm>
          <a:prstGeom prst="rect">
            <a:avLst/>
          </a:prstGeom>
          <a:solidFill>
            <a:srgbClr val="1A2E44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9272" y="256032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✅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11880" y="252374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Thêm cột updated_at vào mọi bảng quan trọng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46120" y="3072384"/>
            <a:ext cx="2788920" cy="566928"/>
          </a:xfrm>
          <a:prstGeom prst="rect">
            <a:avLst/>
          </a:prstGeom>
          <a:solidFill>
            <a:srgbClr val="1A2E44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9272" y="318211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✅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11880" y="314553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Index theo updated_at để sync query nhanh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46120" y="3694176"/>
            <a:ext cx="2788920" cy="566928"/>
          </a:xfrm>
          <a:prstGeom prst="rect">
            <a:avLst/>
          </a:prstGeom>
          <a:solidFill>
            <a:srgbClr val="1A2E44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9272" y="380390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FA6"/>
                </a:solidFill>
              </a:rPr>
              <a:t>⬜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611880" y="376732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Setup SQLite local schema trong app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46120" y="4315968"/>
            <a:ext cx="2788920" cy="566928"/>
          </a:xfrm>
          <a:prstGeom prst="rect">
            <a:avLst/>
          </a:prstGeom>
          <a:solidFill>
            <a:srgbClr val="1A2E44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9272" y="442569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FA6"/>
                </a:solidFill>
              </a:rPr>
              <a:t>⬜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611880" y="438912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Script seed data test cho mobile dev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17920" y="1444752"/>
            <a:ext cx="2788920" cy="347472"/>
          </a:xfrm>
          <a:prstGeom prst="rect">
            <a:avLst/>
          </a:prstGeom>
          <a:solidFill>
            <a:srgbClr val="1A2E44"/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14447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Frontend → App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1828800"/>
            <a:ext cx="2788920" cy="566928"/>
          </a:xfrm>
          <a:prstGeom prst="rect">
            <a:avLst/>
          </a:prstGeom>
          <a:solidFill>
            <a:srgbClr val="1A2E44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91072" y="193852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✅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583680" y="190195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Map tất cả &lt;div&gt; → &lt;View&gt;, &lt;p&gt; → &lt;Text&gt;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217920" y="2450592"/>
            <a:ext cx="2788920" cy="566928"/>
          </a:xfrm>
          <a:prstGeom prst="rect">
            <a:avLst/>
          </a:prstGeom>
          <a:solidFill>
            <a:srgbClr val="1A2E44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91072" y="256032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✅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583680" y="252374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Chuyển CSS → StyleSheet, margin/padding giống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17920" y="3072384"/>
            <a:ext cx="2788920" cy="566928"/>
          </a:xfrm>
          <a:prstGeom prst="rect">
            <a:avLst/>
          </a:prstGeom>
          <a:solidFill>
            <a:srgbClr val="1A2E44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91072" y="318211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✅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583680" y="314553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Đổi React Router → React Navigation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217920" y="3694176"/>
            <a:ext cx="2788920" cy="566928"/>
          </a:xfrm>
          <a:prstGeom prst="rect">
            <a:avLst/>
          </a:prstGeom>
          <a:solidFill>
            <a:srgbClr val="1A2E44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91072" y="380390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9A7"/>
                </a:solidFill>
              </a:rPr>
              <a:t>✅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583680" y="376732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localStorage → AsyncStorage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217920" y="4315968"/>
            <a:ext cx="2788920" cy="566928"/>
          </a:xfrm>
          <a:prstGeom prst="rect">
            <a:avLst/>
          </a:prstGeom>
          <a:solidFill>
            <a:srgbClr val="1A2E44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91072" y="442569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FA6"/>
                </a:solidFill>
              </a:rPr>
              <a:t>⬜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583680" y="438912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</a:rPr>
              <a:t>Thêm offline queue khi mất mạng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CI/CD Pipeline — Deploy Song Song Web &amp; App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4688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005840"/>
            <a:ext cx="1280160" cy="1005840"/>
          </a:xfrm>
          <a:prstGeom prst="rect">
            <a:avLst/>
          </a:prstGeom>
          <a:solidFill>
            <a:srgbClr val="1A2E44"/>
          </a:solidFill>
          <a:ln w="19050">
            <a:solidFill>
              <a:srgbClr val="7A8F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102412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74320" y="14447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8FA6"/>
                </a:solidFill>
              </a:rPr>
              <a:t>Code Push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7A8FA6"/>
                </a:solidFill>
              </a:rPr>
              <a:t>GitHub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572768" y="129844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FA6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737360" y="1005840"/>
            <a:ext cx="1280160" cy="1005840"/>
          </a:xfrm>
          <a:prstGeom prst="rect">
            <a:avLst/>
          </a:prstGeom>
          <a:solidFill>
            <a:srgbClr val="1A2E44"/>
          </a:solidFill>
          <a:ln w="19050">
            <a:solidFill>
              <a:srgbClr val="9B59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737360" y="102412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737360" y="14447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59F5"/>
                </a:solidFill>
              </a:rPr>
              <a:t>GitHub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9B59F5"/>
                </a:solidFill>
              </a:rPr>
              <a:t>Actions CI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035808" y="129844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FA6"/>
                </a:solidFill>
              </a:rPr>
              <a:t>→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00400" y="1005840"/>
            <a:ext cx="1280160" cy="1005840"/>
          </a:xfrm>
          <a:prstGeom prst="rect">
            <a:avLst/>
          </a:prstGeom>
          <a:solidFill>
            <a:srgbClr val="1A2E44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200400" y="102412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00400" y="14447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166"/>
                </a:solidFill>
              </a:rPr>
              <a:t>Run Tests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D166"/>
                </a:solidFill>
              </a:rPr>
              <a:t>Lint Check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498848" y="129844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FA6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663440" y="1005840"/>
            <a:ext cx="1280160" cy="1005840"/>
          </a:xfrm>
          <a:prstGeom prst="rect">
            <a:avLst/>
          </a:prstGeom>
          <a:solidFill>
            <a:srgbClr val="1A2E44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663440" y="102412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🔨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4663440" y="14447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35"/>
                </a:solidFill>
              </a:rPr>
              <a:t>Build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6B35"/>
                </a:solidFill>
              </a:rPr>
              <a:t>Production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961888" y="129844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FA6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126480" y="1005840"/>
            <a:ext cx="1280160" cy="1005840"/>
          </a:xfrm>
          <a:prstGeom prst="rect">
            <a:avLst/>
          </a:prstGeom>
          <a:solidFill>
            <a:srgbClr val="1A2E44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126480" y="102412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126480" y="14447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9A7"/>
                </a:solidFill>
              </a:rPr>
              <a:t>Deploy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C9A7"/>
                </a:solidFill>
              </a:rPr>
              <a:t>Server + App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424928" y="129844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FA6"/>
                </a:solidFill>
              </a:rPr>
              <a:t>→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589520" y="1005840"/>
            <a:ext cx="1280160" cy="1005840"/>
          </a:xfrm>
          <a:prstGeom prst="rect">
            <a:avLst/>
          </a:prstGeom>
          <a:solidFill>
            <a:srgbClr val="1A2E44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589520" y="102412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7589520" y="14447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D6A0"/>
                </a:solidFill>
              </a:rPr>
              <a:t>OTA Update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6D6A0"/>
                </a:solidFill>
              </a:rPr>
              <a:t>(Expo)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74320" y="2103120"/>
            <a:ext cx="4023360" cy="347472"/>
          </a:xfrm>
          <a:prstGeom prst="rect">
            <a:avLst/>
          </a:prstGeom>
          <a:solidFill>
            <a:srgbClr val="9B59F5">
              <a:alpha val="70000"/>
            </a:srgbClr>
          </a:solidFill>
          <a:ln w="12700">
            <a:solidFill>
              <a:srgbClr val="9B59F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" y="2103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 .github/workflows/deploy.yml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74320" y="2496312"/>
            <a:ext cx="4023360" cy="2423160"/>
          </a:xfrm>
          <a:prstGeom prst="rect">
            <a:avLst/>
          </a:prstGeom>
          <a:solidFill>
            <a:srgbClr val="0A1628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11480" y="2578608"/>
            <a:ext cx="374904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Deploy Web + App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push: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branches: [main]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deploy-backend: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actions/checkout@v3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npm install &amp;&amp; npm test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npm run build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Deploy to VPS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ssh deploy@server 'cd /app &amp;&amp; git pull &amp;&amp; pm2 restart'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deploy-app: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expo/expo-github-action@v8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 { expo-version: latest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B5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npx expo publish --non-interactive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4846320" y="2103120"/>
            <a:ext cx="4023360" cy="347472"/>
          </a:xfrm>
          <a:prstGeom prst="rect">
            <a:avLst/>
          </a:prstGeom>
          <a:solidFill>
            <a:srgbClr val="00C9A7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937760" y="2103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 EAS Build (Expo Application Services)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846320" y="2496312"/>
            <a:ext cx="4023360" cy="242316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83480" y="2578608"/>
            <a:ext cx="374904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Cài EAS CLI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eas-cli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 login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Cấu hình eas.json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"build":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"production":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"android": { "buildType": "apk" },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"ios": { "simulator": false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cho Android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 build --platform android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cho iOS  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 build --platform ios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Submit lên stores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 submit --platform android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 submit --platform ios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7B2FBE">
              <a:alpha val="10000"/>
            </a:srgbClr>
          </a:solidFill>
          <a:ln w="12700">
            <a:solidFill>
              <a:srgbClr val="7B2FBE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00C9A7">
              <a:alpha val="10000"/>
            </a:srgbClr>
          </a:solidFill>
          <a:ln w="12700">
            <a:solidFill>
              <a:srgbClr val="00C9A7">
                <a:alpha val="2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64008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1031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Migration Hoàn Tất! 🎉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371600" y="2743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8FA6"/>
                </a:solidFill>
              </a:rPr>
              <a:t>Website của bạn đã sẵn sàng trở thành Mobile App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371600" y="3291840"/>
            <a:ext cx="6400800" cy="36576"/>
          </a:xfrm>
          <a:prstGeom prst="rect">
            <a:avLst/>
          </a:prstGeom>
          <a:solidFill>
            <a:srgbClr val="7A8FA6">
              <a:alpha val="30000"/>
            </a:srgbClr>
          </a:solidFill>
          <a:ln w="12700">
            <a:solidFill>
              <a:srgbClr val="7A8FA6">
                <a:alpha val="3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3474720"/>
            <a:ext cx="1188720" cy="1188720"/>
          </a:xfrm>
          <a:prstGeom prst="rect">
            <a:avLst/>
          </a:prstGeom>
          <a:solidFill>
            <a:srgbClr val="FF6B35">
              <a:alpha val="20000"/>
            </a:srgbClr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4864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48640" y="395935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Database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Migrated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920240" y="3474720"/>
            <a:ext cx="1188720" cy="1188720"/>
          </a:xfrm>
          <a:prstGeom prst="rect">
            <a:avLst/>
          </a:prstGeom>
          <a:solidFill>
            <a:srgbClr val="00C9A7">
              <a:alpha val="20000"/>
            </a:srgbClr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92024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920240" y="395935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API Layer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Ready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91840" y="3474720"/>
            <a:ext cx="1188720" cy="1188720"/>
          </a:xfrm>
          <a:prstGeom prst="rect">
            <a:avLst/>
          </a:prstGeom>
          <a:solidFill>
            <a:srgbClr val="EF4565">
              <a:alpha val="20000"/>
            </a:srgbClr>
          </a:solidFill>
          <a:ln w="19050">
            <a:solidFill>
              <a:srgbClr val="EF456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29184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291840" y="395935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Secured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663440" y="3474720"/>
            <a:ext cx="1188720" cy="1188720"/>
          </a:xfrm>
          <a:prstGeom prst="rect">
            <a:avLst/>
          </a:prstGeom>
          <a:solidFill>
            <a:srgbClr val="9B59F5">
              <a:alpha val="20000"/>
            </a:srgbClr>
          </a:solidFill>
          <a:ln w="19050">
            <a:solidFill>
              <a:srgbClr val="9B59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66344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663440" y="395935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Converted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035040" y="3474720"/>
            <a:ext cx="1188720" cy="1188720"/>
          </a:xfrm>
          <a:prstGeom prst="rect">
            <a:avLst/>
          </a:prstGeom>
          <a:solidFill>
            <a:srgbClr val="06D6A0">
              <a:alpha val="20000"/>
            </a:srgbClr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03504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035040" y="395935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Sync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Offline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406640" y="3474720"/>
            <a:ext cx="1188720" cy="1188720"/>
          </a:xfrm>
          <a:prstGeom prst="rect">
            <a:avLst/>
          </a:prstGeom>
          <a:solidFill>
            <a:srgbClr val="FFD166">
              <a:alpha val="20000"/>
            </a:srgbClr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40664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7406640" y="395935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CI/CD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Deployed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One codebase — Reach everyone: Web • iOS • Android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→ App Migration</dc:title>
  <dc:subject>PptxGenJS Presentation</dc:subject>
  <dc:creator>PptxGenJS</dc:creator>
  <cp:lastModifiedBy>PptxGenJS</cp:lastModifiedBy>
  <cp:revision>1</cp:revision>
  <dcterms:created xsi:type="dcterms:W3CDTF">2026-03-23T10:05:13Z</dcterms:created>
  <dcterms:modified xsi:type="dcterms:W3CDTF">2026-03-23T10:05:13Z</dcterms:modified>
</cp:coreProperties>
</file>